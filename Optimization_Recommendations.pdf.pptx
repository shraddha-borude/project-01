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38DF8-CE32-4713-A3EA-5AC0AC7DE50A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CF06C-5179-46EF-8376-77123ACE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1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F06C-5179-46EF-8376-77123ACE14A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2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77EE-8A6A-8157-0E0A-56908A166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AB738-3D36-D7C7-BC99-8B6BE4B2A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832E-310A-EE82-D703-E8F5FF90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76448-B9BB-6474-3972-A17E524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8B383-80F9-A9FE-89EF-EF58CF39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81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CE9D-8907-570E-6110-CE60511A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35981-F383-E6FA-D2F6-B96C257FB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ACC48-C9EF-542C-94A8-72DB98C5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28315-3753-1EC9-6E41-0FCAC809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92A46-5336-E137-D34E-51DDE2A8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63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5B584-AA37-57B5-6FE8-EC7D1DFF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6E67-6FBC-3EE4-67AB-C7725E730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C7D9-4716-F235-36F1-8CE51D6E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1F35-B6CE-956D-97B5-833DB9CB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9CA5-1D64-5125-6FB9-C0181C87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5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7DB3-FC3F-42CD-BFB2-814BEDE1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A644-0126-EF2A-58D7-5E680539E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D8EAA-FA10-6934-25B2-FE5C0002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ED698-315D-B962-85B3-A2AEB5F1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B1303-A2E9-BE40-A291-7531C41D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5D04F-249F-AD78-BDA1-F7C0F6E5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28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D685-7EE2-BEC9-E46F-D3A8C92E5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DF3D7-9829-983D-ABD6-4198E627D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8E374-E2F8-8638-AFAD-C60534A89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9DACA-A563-57FF-50E3-497351BC5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77D10-8B26-3735-1651-D65C6A177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5AF93-9E05-A7D4-3990-36143E6F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5C265-A9E1-B280-D4B2-38EFC50C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D0551-9A87-0EC3-E6BE-A8082A2E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3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A480-CF02-CFC5-8766-A9AAE94B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8083E-1D39-796D-F09A-496052EB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613D0-B52B-040A-64F8-A3E1B377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C5C48-C91B-DFA0-350D-06128601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7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E09D3-270B-01AF-EC41-946D73AD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9DECF-5FE6-1623-4C86-0C69F37D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F1EF1-8BBA-0A6B-AD08-56BE72F1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47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76FE-7BFB-42A0-F6B4-00A5F84C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3FBB-83ED-95A4-ECBD-261525F6A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ED1D0-234C-E389-5148-0F1D6C907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629E7-9593-6BD5-FBF6-5AD09AE6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B34C0-7252-0A53-EAE7-C955F995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21ABC-8B3F-4C7E-6994-F8BA02F9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8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859-024B-372B-4850-CFCF661B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8B5FA-4F91-A292-1091-A654BBA33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E7942-CB97-7911-7ED4-202C70332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C84FD-EB18-0A83-BCE2-5D84EF6E1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9B79D-873A-4FA1-93AC-5AC2263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8018D-C5B8-B9B2-7682-A7F0B9FC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7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F2D4-6451-8871-87FF-23DF31A8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2B0BB-7D2E-1E78-DDA0-6A4EDECB6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BBAE-B383-2375-63C2-4D543FDC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EEEE9-505A-32D1-85E9-50D60C38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D727-8EA3-93D4-60E0-723A1B75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0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7AFBC-DF8F-1575-7792-E709A42F9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AAA56-1DE1-2A3A-2028-FA22A414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8757-4CC9-97F3-F851-99139D54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EBEE9-C2F6-AC9B-DD1B-F01639B3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889A-87E3-E177-F33E-F5438AD7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3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EAC0F-8E7A-FB84-AC50-6927F6B6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CEEA1-2A1E-3195-4B11-443F605E5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FBB59-3AED-1BE3-DA61-C64263CB1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B22F6-A886-47E2-A293-7F93BB9B239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05C93-CE7D-B2D2-DD4A-E64BE5190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78F3-81E5-BD0A-E5DC-41FB6F014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4946C-0637-4915-B46D-816B0A7F7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63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2897-C523-55C8-EEAC-CD5DABBB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Optimization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48C27-9FAE-7EBB-1165-8DBB1A3C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135"/>
            <a:ext cx="10515600" cy="4876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1. Implement a Smart SMS Reminder: </a:t>
            </a:r>
            <a:r>
              <a:rPr lang="en-US" dirty="0" err="1">
                <a:latin typeface="Aptos" panose="020B0004020202020204" pitchFamily="34" charset="0"/>
              </a:rPr>
              <a:t>SystemSend</a:t>
            </a:r>
            <a:r>
              <a:rPr lang="en-US" dirty="0">
                <a:latin typeface="Aptos" panose="020B0004020202020204" pitchFamily="34" charset="0"/>
              </a:rPr>
              <a:t> SMS reminders 24–48 hours before the </a:t>
            </a:r>
            <a:r>
              <a:rPr lang="en-US" dirty="0" err="1">
                <a:latin typeface="Aptos" panose="020B0004020202020204" pitchFamily="34" charset="0"/>
              </a:rPr>
              <a:t>appointment.Use</a:t>
            </a:r>
            <a:r>
              <a:rPr lang="en-US" dirty="0">
                <a:latin typeface="Aptos" panose="020B0004020202020204" pitchFamily="34" charset="0"/>
              </a:rPr>
              <a:t> personalized messages based on age and risk </a:t>
            </a:r>
            <a:r>
              <a:rPr lang="en-US" dirty="0" err="1">
                <a:latin typeface="Aptos" panose="020B0004020202020204" pitchFamily="34" charset="0"/>
              </a:rPr>
              <a:t>score.Track</a:t>
            </a:r>
            <a:r>
              <a:rPr lang="en-US" dirty="0">
                <a:latin typeface="Aptos" panose="020B0004020202020204" pitchFamily="34" charset="0"/>
              </a:rPr>
              <a:t> SMS effectiveness and update messaging style periodically.</a:t>
            </a:r>
          </a:p>
          <a:p>
            <a:r>
              <a:rPr lang="en-US" b="1" dirty="0">
                <a:latin typeface="Aptos" panose="020B0004020202020204" pitchFamily="34" charset="0"/>
              </a:rPr>
              <a:t>2. Use Prediction Model for Risk </a:t>
            </a:r>
            <a:r>
              <a:rPr lang="en-US" b="1" dirty="0" err="1">
                <a:latin typeface="Aptos" panose="020B0004020202020204" pitchFamily="34" charset="0"/>
              </a:rPr>
              <a:t>TaggingApply</a:t>
            </a:r>
            <a:r>
              <a:rPr lang="en-US" b="1" dirty="0">
                <a:latin typeface="Aptos" panose="020B0004020202020204" pitchFamily="34" charset="0"/>
              </a:rPr>
              <a:t>: </a:t>
            </a:r>
            <a:r>
              <a:rPr lang="en-US" dirty="0">
                <a:latin typeface="Aptos" panose="020B0004020202020204" pitchFamily="34" charset="0"/>
              </a:rPr>
              <a:t>the trained decision tree model to assign a no-show risk score to patients during </a:t>
            </a:r>
            <a:r>
              <a:rPr lang="en-US" dirty="0" err="1">
                <a:latin typeface="Aptos" panose="020B0004020202020204" pitchFamily="34" charset="0"/>
              </a:rPr>
              <a:t>booking.Prioritize</a:t>
            </a:r>
            <a:r>
              <a:rPr lang="en-US" dirty="0">
                <a:latin typeface="Aptos" panose="020B0004020202020204" pitchFamily="34" charset="0"/>
              </a:rPr>
              <a:t> follow-ups (calls, double reminders) for high-risk patients.</a:t>
            </a:r>
          </a:p>
          <a:p>
            <a:r>
              <a:rPr lang="en-US" b="1" dirty="0">
                <a:latin typeface="Aptos" panose="020B0004020202020204" pitchFamily="34" charset="0"/>
              </a:rPr>
              <a:t>3. Offer Flexible Scheduling: </a:t>
            </a:r>
            <a:r>
              <a:rPr lang="en-US" dirty="0">
                <a:latin typeface="Aptos" panose="020B0004020202020204" pitchFamily="34" charset="0"/>
              </a:rPr>
              <a:t>For patients with high risk (e.g., long waiting time, teenagers), </a:t>
            </a:r>
            <a:r>
              <a:rPr lang="en-US" dirty="0" err="1">
                <a:latin typeface="Aptos" panose="020B0004020202020204" pitchFamily="34" charset="0"/>
              </a:rPr>
              <a:t>provide:Same-week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appointmentsRescheduling</a:t>
            </a:r>
            <a:r>
              <a:rPr lang="en-US" dirty="0">
                <a:latin typeface="Aptos" panose="020B0004020202020204" pitchFamily="34" charset="0"/>
              </a:rPr>
              <a:t> options via app or </a:t>
            </a:r>
            <a:r>
              <a:rPr lang="en-US" dirty="0" err="1">
                <a:latin typeface="Aptos" panose="020B0004020202020204" pitchFamily="34" charset="0"/>
              </a:rPr>
              <a:t>phoneAppointment</a:t>
            </a:r>
            <a:r>
              <a:rPr lang="en-US" dirty="0">
                <a:latin typeface="Aptos" panose="020B0004020202020204" pitchFamily="34" charset="0"/>
              </a:rPr>
              <a:t> confirmations.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5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B721-447C-7B25-832D-FCB7A883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Optimization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D24A9-97A7-5D39-A748-A87875E6F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4. Reduce Waiting Days: </a:t>
            </a:r>
            <a:r>
              <a:rPr lang="en-US" dirty="0">
                <a:latin typeface="Aptos" panose="020B0004020202020204" pitchFamily="34" charset="0"/>
              </a:rPr>
              <a:t>Keep the gap between scheduling and appointment below 10 </a:t>
            </a:r>
            <a:r>
              <a:rPr lang="en-US" dirty="0" err="1">
                <a:latin typeface="Aptos" panose="020B0004020202020204" pitchFamily="34" charset="0"/>
              </a:rPr>
              <a:t>days.Allocate</a:t>
            </a:r>
            <a:r>
              <a:rPr lang="en-US" dirty="0">
                <a:latin typeface="Aptos" panose="020B0004020202020204" pitchFamily="34" charset="0"/>
              </a:rPr>
              <a:t> buffer slots for urgent or repeat patients.</a:t>
            </a:r>
          </a:p>
          <a:p>
            <a:r>
              <a:rPr lang="en-US" b="1" dirty="0">
                <a:latin typeface="Aptos" panose="020B0004020202020204" pitchFamily="34" charset="0"/>
              </a:rPr>
              <a:t>5. Neighborhood-Specific Strategies: </a:t>
            </a:r>
            <a:r>
              <a:rPr lang="en-US" dirty="0">
                <a:latin typeface="Aptos" panose="020B0004020202020204" pitchFamily="34" charset="0"/>
              </a:rPr>
              <a:t>Focus interventions in neighborhoods with consistently high no-show </a:t>
            </a:r>
            <a:r>
              <a:rPr lang="en-US" dirty="0" err="1">
                <a:latin typeface="Aptos" panose="020B0004020202020204" pitchFamily="34" charset="0"/>
              </a:rPr>
              <a:t>rates.Partner</a:t>
            </a:r>
            <a:r>
              <a:rPr lang="en-US" dirty="0">
                <a:latin typeface="Aptos" panose="020B0004020202020204" pitchFamily="34" charset="0"/>
              </a:rPr>
              <a:t> with local community workers or clinics to improve accessibility and awareness.</a:t>
            </a:r>
          </a:p>
          <a:p>
            <a:r>
              <a:rPr lang="en-US" b="1" dirty="0">
                <a:latin typeface="Aptos" panose="020B0004020202020204" pitchFamily="34" charset="0"/>
              </a:rPr>
              <a:t>6. Enhance Accessibility for Vulnerable Age Groups: </a:t>
            </a:r>
            <a:r>
              <a:rPr lang="en-US" dirty="0">
                <a:latin typeface="Aptos" panose="020B0004020202020204" pitchFamily="34" charset="0"/>
              </a:rPr>
              <a:t>Younger and elderly patients are more prone to no-</a:t>
            </a:r>
            <a:r>
              <a:rPr lang="en-US" dirty="0" err="1">
                <a:latin typeface="Aptos" panose="020B0004020202020204" pitchFamily="34" charset="0"/>
              </a:rPr>
              <a:t>shows.Offer</a:t>
            </a:r>
            <a:r>
              <a:rPr lang="en-US" dirty="0">
                <a:latin typeface="Aptos" panose="020B0004020202020204" pitchFamily="34" charset="0"/>
              </a:rPr>
              <a:t> telehealth, transportation assistance, or caregiver reminders.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13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162D-178A-7151-306A-7D544155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Optimization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3A561-553A-F9C7-9C3D-15FB20ACF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Monitor KPIs Monthly: </a:t>
            </a:r>
            <a:r>
              <a:rPr lang="en-US" dirty="0"/>
              <a:t>Track no-show rate, SMS success rate, and scheduling </a:t>
            </a:r>
            <a:r>
              <a:rPr lang="en-US" dirty="0" err="1"/>
              <a:t>delay.Use</a:t>
            </a:r>
            <a:r>
              <a:rPr lang="en-US" dirty="0"/>
              <a:t> your Power BI dashboard to identify spikes and respond quickly.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35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226</Words>
  <Application>Microsoft Office PowerPoint</Application>
  <PresentationFormat>Widescreen</PresentationFormat>
  <Paragraphs>11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Optimization Recommendations</vt:lpstr>
      <vt:lpstr>Optimization Recommendations</vt:lpstr>
      <vt:lpstr>Optimization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Borude</dc:creator>
  <cp:lastModifiedBy>Shraddha Borude</cp:lastModifiedBy>
  <cp:revision>1</cp:revision>
  <dcterms:created xsi:type="dcterms:W3CDTF">2025-04-30T17:39:49Z</dcterms:created>
  <dcterms:modified xsi:type="dcterms:W3CDTF">2025-04-30T17:51:48Z</dcterms:modified>
</cp:coreProperties>
</file>